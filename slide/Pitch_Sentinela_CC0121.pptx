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 — GANCHO. Comecem lendo o número em voz alta, façam uma pausa, depois leiam a pergunta final olhando para a banca. Deixem o silêncio depois da pergunta trabalhar a favor de vocês. Apresentem-se e nomeiem o projeto rapidamente na transição para o próximo slide, sem gastar um slide inteiro nisso.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 — Leiam a frase de solução uma vez, devagar. Não expliquem os três pilares em detalhe agora — isso vem depois. Aqui é só para a banca entender o que o produto FAZ.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1-1.5 min — Apontem o pipeline rapidamente (5-8s por caixa, sem ler o texto pequeno em voz alta). O parágrafo final é a ponte para os próximos dois slides — leiam com intenção, é o que justifica continuar falando de técnica sem soar uma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min — Este é o slide mais fácil de errar o tom. Não usem a palavra 'desbalanceamento de classes'. Usem a metáfora da agulha no palheiro. O card vermelho é o erro que um modelo ingênuo comete; o verde é a solução. Mencionem 'SMOTE' uma vez, sem explicar a sigla.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min — Comparem os três cards em ordem, terminando no 'escolhido' com um leve tom de virada ('e foi aí que...'). Não leiam os nomes técnicos dos modelos como títulos de seção — usem como seriam ditos numa conversa. A caixa escura no rodapé é a validação técnica, leiam rápido e sem jargão de 'K-Fold'.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 — Leiam apenas os três números grandes e a frase 'Na prática'. Não mencionem AUC-ROC/Precision/Recall como jargão — a banca são executivos, não cientistas de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 — Adaptem o exemplo regional ao público real da apresentação. Se a banca for de outra região, troquem a menção à Amazônia por um paralelo equivalente, mas mantenham a lógica: fraude pesa mais em quem tem menos acesso a canais alternativos de resolução.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 — Leiam o pedido com confiança, sem se desculpar pelo valor. Terminem com as duas frases finais em silêncio antes de agradecer — não emendem direto com 'perguntas?'.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US$ 33,4 bilhões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868680" y="2788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E9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foram perdidos globalmente com fraude em cartões em 2024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3246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E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Nilson Report, 2025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" y="3977640"/>
            <a:ext cx="4754880" cy="0"/>
          </a:xfrm>
          <a:prstGeom prst="line">
            <a:avLst/>
          </a:prstGeom>
          <a:noFill/>
          <a:ln w="12700">
            <a:solidFill>
              <a:srgbClr val="2C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25196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9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Brasil, o uso indevido de cartão de crédito </a:t>
            </a:r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D84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é o golpe mais comum</a:t>
            </a:r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9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sofrido pela população — e as tentativas de fraude bancária cresceram 21,5% só no 1º trimestre de 2025.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544068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Quantas dessas transações sua equipe consegue revisar manualmente, em tempo real, antes que o prejuízo aconteça?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515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dirty="0">
                <a:solidFill>
                  <a:srgbClr val="12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Sentinela usa </a:t>
            </a:r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D843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pPr algn="l" indent="0" marL="0">
              <a:lnSpc>
                <a:spcPct val="120000"/>
              </a:lnSpc>
              <a:buNone/>
            </a:pPr>
            <a:r>
              <a:rPr lang="en-US" sz="3800" dirty="0">
                <a:solidFill>
                  <a:srgbClr val="12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para classificar cada transação como segura ou suspeita em </a:t>
            </a:r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milissegundos</a:t>
            </a:r>
            <a:pPr algn="l" indent="0" marL="0">
              <a:lnSpc>
                <a:spcPct val="120000"/>
              </a:lnSpc>
              <a:buNone/>
            </a:pPr>
            <a:r>
              <a:rPr lang="en-US" sz="3800" dirty="0">
                <a:solidFill>
                  <a:srgbClr val="12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sem atrito para o cliente legítimo.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374904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E9F2F7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400507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Velocidade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97280" y="45262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em tempo real, integrada ao pipeline de pagamento — sem revisão manual.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26280" y="374904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E9F2F7"/>
          </a:solidFill>
          <a:ln/>
        </p:spPr>
      </p:sp>
      <p:sp>
        <p:nvSpPr>
          <p:cNvPr id="8" name="Text 6"/>
          <p:cNvSpPr/>
          <p:nvPr/>
        </p:nvSpPr>
        <p:spPr>
          <a:xfrm>
            <a:off x="4800600" y="400507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Precisão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800600" y="45262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 dos alertas gerados são fraudes reais — poucos falsos positivos incomodando clientes.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0" y="374904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E9F2F7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400507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fricção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503920" y="45262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legítimo nem percebe que foi analisado. Só quem é suspeito é notado.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Sentinela · CC0121 — Inteligência Artificial · UNIFAP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Sentinela entra no pipeline de pagamento, não substitui ele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disso é visível para o cliente — tudo acontece antes da tela mostrar "aprovado" ou "recusado".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F4F6F8"/>
          </a:solidFill>
          <a:ln w="12700">
            <a:solidFill>
              <a:srgbClr val="D5DC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45059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94436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 o cartão / compra online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2880360"/>
            <a:ext cx="320040" cy="0"/>
          </a:xfrm>
          <a:prstGeom prst="line">
            <a:avLst/>
          </a:prstGeom>
          <a:noFill/>
          <a:ln w="19050">
            <a:solidFill>
              <a:srgbClr val="9AA7B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657600" y="228600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F4F6F8"/>
          </a:solidFill>
          <a:ln w="12700">
            <a:solidFill>
              <a:srgbClr val="D5DC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245059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 de pagamento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40480" y="294436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os dados da transação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2880360"/>
            <a:ext cx="320040" cy="0"/>
          </a:xfrm>
          <a:prstGeom prst="line">
            <a:avLst/>
          </a:prstGeom>
          <a:noFill/>
          <a:ln w="19050">
            <a:solidFill>
              <a:srgbClr val="9AA7B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492240" y="228600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245059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Sentinela (nosso modelo)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75120" y="294436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o score de risco em milissegundos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06840" y="2880360"/>
            <a:ext cx="320040" cy="0"/>
          </a:xfrm>
          <a:prstGeom prst="line">
            <a:avLst/>
          </a:prstGeom>
          <a:noFill/>
          <a:ln w="19050">
            <a:solidFill>
              <a:srgbClr val="9AA7B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326880" y="228600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F4F6F8"/>
          </a:solidFill>
          <a:ln w="12700">
            <a:solidFill>
              <a:srgbClr val="D5DC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0" y="245059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Decisão automática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509760" y="294436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Aprova, bloqueia ou envia para revisão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3977640"/>
            <a:ext cx="10561320" cy="1737360"/>
          </a:xfrm>
          <a:prstGeom prst="roundRect">
            <a:avLst>
              <a:gd name="adj" fmla="val 5263"/>
            </a:avLst>
          </a:prstGeom>
          <a:solidFill>
            <a:srgbClr val="E9F2F7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4251960"/>
            <a:ext cx="9921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 o Sentinela funcionar de verdade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só o algoritmo — é a forma como ele foi treinado e testado. Nas próximas telas mostramos as duas decisões de engenharia que garantem que ele funciona em produção, não só em laboratório.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Sentinela · CC0121 — Inteligência Artificial · UNIFAP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Achar a agulha no palheiro — sem aprender a ignorar a agulha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nossos dados de treino, 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D84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de 2 em cada 1.000 transações eram fraude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Isso parece bom — mas é uma armadilha.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5120640" cy="2788920"/>
          </a:xfrm>
          <a:prstGeom prst="roundRect">
            <a:avLst>
              <a:gd name="adj" fmla="val 3279"/>
            </a:avLst>
          </a:prstGeom>
          <a:solidFill>
            <a:srgbClr val="FBE4E3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606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jeito ingênuo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30632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modelo treinado direto nesses dados aprende o caminho mais fácil: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8A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"nunca aposte em fraude".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79476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E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dá 99,8% de acerto geral — e zero fraude detectada. Um número bonito que não protege ninguém.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2377440"/>
            <a:ext cx="5120640" cy="2788920"/>
          </a:xfrm>
          <a:prstGeom prst="roundRect">
            <a:avLst>
              <a:gd name="adj" fmla="val 3279"/>
            </a:avLst>
          </a:prstGeom>
          <a:solidFill>
            <a:srgbClr val="DFF0E6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2606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55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fizemos: SMOTE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37960" y="306324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o treino, multiplicamos exemplos de fraude de forma inteligente — o modelo passa a ver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F5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suficientes para aprender o padrão real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não só a exceção.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37960" y="39776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1F5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teste final continua com a proporção real de fraude — então o resultado que mostramos reflete o mundo real, não um cenário facilitado.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Sentinela · CC0121 — Inteligência Artificial · UNIFAP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escolha do modelo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Testamos três abordagens. Escolhemos a que erra do lado certo.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383280" cy="2514600"/>
          </a:xfrm>
          <a:prstGeom prst="roundRect">
            <a:avLst>
              <a:gd name="adj" fmla="val 3636"/>
            </a:avLst>
          </a:prstGeom>
          <a:solidFill>
            <a:srgbClr val="F4F6F8"/>
          </a:solidFill>
          <a:ln w="12700">
            <a:solidFill>
              <a:srgbClr val="D5DC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2423160"/>
            <a:ext cx="2871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simples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8992" y="2907792"/>
            <a:ext cx="287121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 alerta para quase qualquer transação — bloqueia fraude, mas também bloqueia cliente honesto o tempo todo.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26280" y="1828800"/>
            <a:ext cx="3383280" cy="2514600"/>
          </a:xfrm>
          <a:prstGeom prst="roundRect">
            <a:avLst>
              <a:gd name="adj" fmla="val 3636"/>
            </a:avLst>
          </a:prstGeom>
          <a:solidFill>
            <a:srgbClr val="F4F6F8"/>
          </a:solidFill>
          <a:ln w="12700">
            <a:solidFill>
              <a:srgbClr val="D5DC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82312" y="2423160"/>
            <a:ext cx="2871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mais agressivo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82312" y="2907792"/>
            <a:ext cx="287121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Ótimo em laboratório, mas na prática deixa passar mais fraude do que o aceitável para o negócio.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0" y="1828800"/>
            <a:ext cx="3383280" cy="2514600"/>
          </a:xfrm>
          <a:prstGeom prst="roundRect">
            <a:avLst>
              <a:gd name="adj" fmla="val 3636"/>
            </a:avLst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10378440" y="2029968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0378440" y="20299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ESCOLHIDO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485632" y="2423160"/>
            <a:ext cx="2871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Sentinela (escolhido)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85632" y="2907792"/>
            <a:ext cx="287121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equilíbrio certo: pega a maioria das fraudes sem sobrecarregar a equipe com falsos alarmes.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4617720"/>
            <a:ext cx="10561320" cy="1234440"/>
          </a:xfrm>
          <a:prstGeom prst="roundRect">
            <a:avLst>
              <a:gd name="adj" fmla="val 7407"/>
            </a:avLst>
          </a:prstGeom>
          <a:solidFill>
            <a:srgbClr val="0F1B2D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4828032"/>
            <a:ext cx="9921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7F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validamos: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confiamos em um único teste. Repetimos a avaliação várias vezes, em fatias diferentes dos dados que o modelo nunca tinha visto, para garantir que o resultado é consistente — não sorte de um dia bom.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Sentinela · CC0121 — Inteligência Artificial · UNIFAP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Acerta 8 de cada 10 fraudes. E quando erra, erra a favor da segurança.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E9F2F7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0574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97280" y="29260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329184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fraudes reais no conjunto de teste foram identificadas corretamente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26280" y="1874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E9F2F7"/>
          </a:solidFill>
          <a:ln/>
        </p:spPr>
      </p:sp>
      <p:sp>
        <p:nvSpPr>
          <p:cNvPr id="9" name="Text 7"/>
          <p:cNvSpPr/>
          <p:nvPr/>
        </p:nvSpPr>
        <p:spPr>
          <a:xfrm>
            <a:off x="4800600" y="20574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843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86%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800600" y="29260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329184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alertas emitidos eram fraudes de fato — poucos falsos alarmes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0" y="1874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E9F2F7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20574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C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0,98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8503920" y="29260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03920" y="329184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do modelo de separar fraude de transação legítima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4434840"/>
            <a:ext cx="10561320" cy="1371600"/>
          </a:xfrm>
          <a:prstGeom prst="roundRect">
            <a:avLst>
              <a:gd name="adj" fmla="val 6667"/>
            </a:avLst>
          </a:prstGeom>
          <a:solidFill>
            <a:srgbClr val="0F1B2D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4663440"/>
            <a:ext cx="9921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7F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prática: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7 alertas gerados, 6 são fraudes reais. Das 98 fraudes do teste, 82 foram capturadas — e das poucas que passaram, nenhum cliente legítimo foi prejudicado em massa. O modelo prioriza não incomodar quem é honesto, sem abrir mão da proteção.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Sentinela · CC0121 — Inteligência Artificial · UNIFAP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 mercado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precisa disso — e por que a região amplifica essa necessidade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3383280" cy="1645920"/>
          </a:xfrm>
          <a:prstGeom prst="roundRect">
            <a:avLst>
              <a:gd name="adj" fmla="val 5556"/>
            </a:avLst>
          </a:prstGeom>
          <a:solidFill>
            <a:srgbClr val="E9F2F7"/>
          </a:solidFill>
          <a:ln/>
        </p:spPr>
      </p:sp>
      <p:sp>
        <p:nvSpPr>
          <p:cNvPr id="5" name="Text 3"/>
          <p:cNvSpPr/>
          <p:nvPr/>
        </p:nvSpPr>
        <p:spPr>
          <a:xfrm>
            <a:off x="1078992" y="1874520"/>
            <a:ext cx="2871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Bancos e fintechs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78992" y="2350008"/>
            <a:ext cx="28712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Reduzem custo de revisão manual e prejuízo direto com fraude não detectada.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26280" y="1691640"/>
            <a:ext cx="3383280" cy="1645920"/>
          </a:xfrm>
          <a:prstGeom prst="roundRect">
            <a:avLst>
              <a:gd name="adj" fmla="val 5556"/>
            </a:avLst>
          </a:prstGeom>
          <a:solidFill>
            <a:srgbClr val="E9F2F7"/>
          </a:solidFill>
          <a:ln/>
        </p:spPr>
      </p:sp>
      <p:sp>
        <p:nvSpPr>
          <p:cNvPr id="8" name="Text 6"/>
          <p:cNvSpPr/>
          <p:nvPr/>
        </p:nvSpPr>
        <p:spPr>
          <a:xfrm>
            <a:off x="4782312" y="1874520"/>
            <a:ext cx="2871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Cooperativas de crédito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82312" y="2350008"/>
            <a:ext cx="28712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Ganham capacidade de nível bancário sem montar um time de dados próprio.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0" y="1691640"/>
            <a:ext cx="3383280" cy="1645920"/>
          </a:xfrm>
          <a:prstGeom prst="roundRect">
            <a:avLst>
              <a:gd name="adj" fmla="val 5556"/>
            </a:avLst>
          </a:prstGeom>
          <a:solidFill>
            <a:srgbClr val="E9F2F7"/>
          </a:solidFill>
          <a:ln/>
        </p:spPr>
      </p:sp>
      <p:sp>
        <p:nvSpPr>
          <p:cNvPr id="11" name="Text 9"/>
          <p:cNvSpPr/>
          <p:nvPr/>
        </p:nvSpPr>
        <p:spPr>
          <a:xfrm>
            <a:off x="8485632" y="1874520"/>
            <a:ext cx="2871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Varejo com meio de pagamento próprio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85632" y="2350008"/>
            <a:ext cx="28712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Protegem sua carteira digital sem precisar terceirizar toda a operação.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3611880"/>
            <a:ext cx="10561320" cy="2286000"/>
          </a:xfrm>
          <a:prstGeom prst="roundRect">
            <a:avLst>
              <a:gd name="adj" fmla="val 4000"/>
            </a:avLst>
          </a:prstGeom>
          <a:solidFill>
            <a:srgbClr val="0F1B2D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82219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Conexão com a Amazônia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4251960"/>
            <a:ext cx="99212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9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Amapá e no restante da região amazônica, a distância entre municípios e a baixa densidade de agências bancárias já empurraram a população para os pagamentos digitais — Pix e cartão são, para muita gente, a única forma prática de acesso a serviços financeiros. 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E9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significa que uma fraude aqui não é só um número: pode ser a única conta de alguém que mora a horas de barco do banco mais próximo.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9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essas transações com um sistema automático, barato de operar e sem dependência de agência física, é diretamente relevante para cooperativas de crédito e fintechs regionais que atendem essa população.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Sentinela · CC0121 — Inteligência Artificial · UNIFAP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F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pedido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uma parceria piloto de </a:t>
            </a:r>
            <a:pPr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D843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meses</a:t>
            </a:r>
            <a:pPr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entregamos o Sentinela integrado aos seus dados reais.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242316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16324A"/>
          </a:solidFill>
          <a:ln w="12700">
            <a:solidFill>
              <a:srgbClr val="1E3F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2624328"/>
            <a:ext cx="2871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CB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Mês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8992" y="3044952"/>
            <a:ext cx="28712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piloto com dados reais do cliente e recalibração do modelo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26280" y="242316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16324A"/>
          </a:solidFill>
          <a:ln w="12700">
            <a:solidFill>
              <a:srgbClr val="1E3F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82312" y="2624328"/>
            <a:ext cx="2871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CB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Mês 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82312" y="3044952"/>
            <a:ext cx="28712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Explicabilidade (SHAP) e ajuste do limiar de decisão ao custo de negócio do cliente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0" y="242316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16324A"/>
          </a:solidFill>
          <a:ln w="12700">
            <a:solidFill>
              <a:srgbClr val="1E3F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85632" y="2624328"/>
            <a:ext cx="2871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CB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Mês 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85632" y="3044952"/>
            <a:ext cx="28712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de carga, deploy monitorado e handoff para o time do cliente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3434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 ilustrativa para esta apresentação — a proposta comercial final seria calibrada ao volume de transações do cliente.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4892040"/>
            <a:ext cx="10515600" cy="0"/>
          </a:xfrm>
          <a:prstGeom prst="line">
            <a:avLst/>
          </a:prstGeom>
          <a:noFill/>
          <a:ln w="12700">
            <a:solidFill>
              <a:srgbClr val="2C45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1663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 fraude não detectada tem um nome e um rosto do outro lado da tela.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2960" y="58064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43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Deixem o Sentinela proteger os dois lados dessa transação.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2026-07-16T00:06:49Z</dcterms:created>
  <dcterms:modified xsi:type="dcterms:W3CDTF">2026-07-16T00:06:49Z</dcterms:modified>
</cp:coreProperties>
</file>